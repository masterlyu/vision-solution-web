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9F9A"/>
                </a:solidFill>
              </a:rPr>
              <a:t>VISIONC · ENTERPRISE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</a:rPr>
              <a:t>Course 02 · 사내 AI 구축·운영 종합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9F9A"/>
                </a:solidFill>
              </a:rPr>
              <a:t>1편 · 의사결정</a:t>
            </a:r>
          </a:p>
          <a:p>
            <a:r>
              <a:rPr sz="4000" b="1">
                <a:solidFill>
                  <a:srgbClr val="FFFFFF"/>
                </a:solidFill>
              </a:rPr>
              <a:t>지능을 빌릴 것인가, 소유할 것인가 — 도입 결정의 본질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E9F9A"/>
                </a:solidFill>
              </a:rPr>
              <a:t>코스   </a:t>
            </a:r>
            <a:r>
              <a:rPr sz="1400" b="0">
                <a:solidFill>
                  <a:srgbClr val="E2E8F0"/>
                </a:solidFill>
              </a:rPr>
              <a:t>Course 02 · 사내 AI 구축·운영 종합 가이드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E9F9A"/>
                </a:solidFill>
              </a:rPr>
              <a:t>강의   </a:t>
            </a:r>
            <a:r>
              <a:rPr sz="1400" b="0">
                <a:solidFill>
                  <a:srgbClr val="E2E8F0"/>
                </a:solidFill>
              </a:rPr>
              <a:t>1강 클라우드 vs 온프레미스 + 2강 도입 로드맵  ·  1강(60분) + 2강(60분) = 총 120분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E9F9A"/>
                </a:solidFill>
              </a:rPr>
              <a:t>대상   </a:t>
            </a:r>
            <a:r>
              <a:rPr sz="1400" b="0">
                <a:solidFill>
                  <a:srgbClr val="E2E8F0"/>
                </a:solidFill>
              </a:rPr>
              <a:t>중소기업 경영진·IT 담당자·관리자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E9F9A"/>
                </a:solidFill>
              </a:rPr>
              <a:t>형식   </a:t>
            </a:r>
            <a:r>
              <a:rPr sz="1400" b="0">
                <a:solidFill>
                  <a:srgbClr val="E2E8F0"/>
                </a:solidFill>
              </a:rPr>
              <a:t>사내 출강 / 워크숍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INTRO ·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지능을 빌릴 것인가, 소유할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9F9A"/>
                </a:solidFill>
              </a:rPr>
              <a:t>1강 — 클라우드 API vs 온프레미스: 규모별 손익분기점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AI 도입 = 회사의 '지능'을 어디에 둘 것인가의 결정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‘싸냐 비싸냐’는 절반의 질문 — 본질은 통제권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오늘 끝나면: 우리 회사의 경계선을 1장으로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60분 후, 3가지가 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① 지능 주권 관점에서 도입을 설명할 수 있다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② 손익분기(BEP) 공식으로 우리 숫자를 계산한다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③ 5가지 근본 질문으로 우리 경계선을 긋는다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REFRAME · 본질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‘싸요 비싸요?’는 절반만 맞다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변하지 않는 본질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빌린다 = 남의 두뇌, 질문할 때마다 요금 + 내 데이터 전달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소유한다 = 내 두뇌, 초기 부담 + 아무도 못 들여다봄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결정의 축: 편의성 ↔ 통제권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HISTORY · 평행이론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100년 전, 공장도 똑같이 물었다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역사는 반복된다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“전기를 발전소에서 살까, 자가발전기를 둘까?”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결국 편의성 ↔ 통제권의 거래였다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기술은 바뀌어도, 이 거래의 본질은 그대로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PRINCIPLES · 3대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변하지 않는 3대 근본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도구가 바뀌어도 그대로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① 모든 외주에는 ‘의존성’이라는 보이지 않는 비용이 있다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② 데이터는 한 번 나가면 통제권을 되찾을 수 없다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③ 비용은 변하지만, 통제권의 가치는 회사 정체성이 정한다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ANALOGY · 비유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택시 vs 자가용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쉽게 이해하기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클라우드 = 택시: 편하고 초기비용 0, 그러나 탈 때마다 요금·기사가 목적지를 안다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온프레미스 = 자가용: 차값·정비 부담, 그러나 내 통제·아무도 동선 모름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정답은 ‘얼마나 자주 타는가 × 무엇을 싣는가’가 정한다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LANDSCAPE 2026.6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지금의 풍경 (예시 · 업데이트 대상)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🟨 가변층 — 2026년 6월 기준, 곧 변함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무료·오픈 모델 폭발: Llama·Qwen·Mistral·DeepSeek·GPT-OSS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양자화 보편화: Q4로 7B≈5GB, 70B≈40GB까지 — 워크스테이션 1대로 큰 모델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하드웨어: 입문(미니PC·중고 3090/4090) → 본격(5090 WS) → 대규모(서버 GPU)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FRAMEWORK · BEP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손익분기 공식 (개념은 영구)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도구가 바뀌어도 식은 그대로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클라우드 연간 = 월 토큰량 × 단가 × 12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자체구축 연간 = (하드웨어 ÷ 감가연수) + 전기료 + 운영 인건비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두 선이 만나는 월 토큰량 = 손익분기점(BEP)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CHECKLIST · 5질문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09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도입을 가르는 5가지 근본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2026년에도 2030년에도 유효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① 주권: 데이터가 밖으로 나가도 되는가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② 규모: 월 사용량이 손익분기를 넘는가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③ 민감도·규제: 개인정보·국외이전 대상인가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④ 역량: 서버 운영·유지할 사람이 있는가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⑤ 연속성: 제공자가 끊겨도 회사가 버티는가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CONCLUSION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대개의 정답은 ‘혼합(Hybrid)’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둘 중 하나가 아니다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민감·상시 업무 → 자체 구축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가끔·비민감·최고성능 필요 → 클라우드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핵심: 민감 데이터는 절대 밖으로 안 보내는 ‘경계선’을 긋는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WORKSHOP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실습 — 우리 회사 경계선 1장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9F9A"/>
                </a:solidFill>
              </a:rPr>
              <a:t>🟦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① 월 예상 토큰량 추정 → BEP 시트 대입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② ‘몇 개월 만에 자체 구축이 싸지나’ 산출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③ 5질문 ○/△/× → 무엇은 사내·무엇은 클라우드 경계선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INTRO ·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무엇부터 — 6/12/24개월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9F9A"/>
                </a:solidFill>
              </a:rPr>
              <a:t>2강 — 단계별 도입 로드맵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도입은 ‘기술 설치’가 아니라 ‘습관의 이식’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한 번에 다 하려다 다 실패한다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씨앗 → 뿌리 → 숲, 3단계로 90일·1년·2년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PRINCIPLE · 근본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도입의 본질 = 습관의 이식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기술이 아니라 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도구를 깔면 끝? → 안 쓰면 0원의 효과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작은 성공 → 신뢰 → 확산의 순서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측정 없는 도입은 ‘좋다더라’로 끝난다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MODEL ·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씨앗 → 뿌리 → 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 — 변하지 않는 3단계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0–6개월 씨앗: 1개 부서·1개 업무·측정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6–12개월 뿌리: 수평 확장·사내 챗봇/RAG·거버넌스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12–24개월 숲: 에이전트·자체 호스팅·보안/감사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PHASE 1 · 씨앗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0–6개월: 씨앗 — 작게 증명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🟦 불변층 + 🟨 가변층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1개 부서·1개 업무 선정 (가장 반복적·측정 쉬운 곳)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베이스라인 측정 → 클라우드 무료/저가로 빠르게 검증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성공 사례 1건 = 다음 예산의 근거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PHASE 2 · 뿌리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6–12개월: 뿌리 — 넓게 정착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🟦 불변층 + 🟨 가변층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성공 패턴을 옆 부서로 수평 확장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사내 공용 챗봇·문서 검색(RAG) 구축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최소 거버넌스: 데이터 분류·사용 규칙·권한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PHASE 3 · 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12–24개월: 숲 — 깊게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🟦 불변층 + 🟨 가변층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반복 업무 → 자율 에이전트로 자동화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민감 업무 → 자체 호스팅으로 주권 확보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보안·감사·백업·DR 체계 완성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LAWS · 성공/실패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변하지 않는 성공·실패 법칙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🟦 불변층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✅ 작게 증명 → 측정 → 확산 (순서를 지킨다)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✅ 경영진 후원 + 현장 챔피언 1명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❌ 전사 일괄 도입 · ❌ 측정 없는 도입 · ❌ 거버넌스 과잉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LANDSCAPE 2026.6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지금의 단계별 추천 스택 (예시)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🟨 가변층 — 2026년 6월, 업데이트 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씨앗: 클라우드 무료·저가 등급으로 검증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뿌리: 사내 챗봇(Open WebUI·Dify)+RAG, 자체 호스팅 검토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숲: 에이전트(Claude Code/SDK)+자체 호스팅+보안 스택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WORKSHOP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실습 — 우리 회사 90일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9F9A"/>
                </a:solidFill>
              </a:rPr>
              <a:t>🟦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① 씨앗 업무 1개 + 베이스라인 지표 1개 확정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② 90일 안에 ‘증명할 숫자’ 1개 설정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③ 챔피언 1명 + 경영진 후원자 1명 지정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543032" cy="279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9A"/>
                </a:solidFill>
              </a:rPr>
              <a:t>WRAP-UP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</a:rPr>
              <a:t>1편 · SLIDE 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F172A"/>
                </a:solidFill>
              </a:rPr>
              <a:t>1편 정리 — 2층 구조로 기억하라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🟦 불변층 + 🟨 가변층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🟦 불변: 지능 주권·3대 원리·5질문·3단계 로드맵 (영구)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🟨 가변: 가격·GPU·모델·도구명 (업데이트 대상·예시)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E9F9A"/>
                </a:solidFill>
              </a:rPr>
              <a:t>▸  </a:t>
            </a:r>
            <a:r>
              <a:rPr sz="1800" b="0">
                <a:solidFill>
                  <a:srgbClr val="0F172A"/>
                </a:solidFill>
              </a:rPr>
              <a:t>다음: 2편 인프라 — 서버·OS·네트워크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VISIONC · ENTERPRISE ACADEMY    ·    Course 02 · 사내 AI 구축·운영 종합 가이드    ·    1편 의사결정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