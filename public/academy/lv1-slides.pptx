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2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764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D8F95"/>
                </a:solidFill>
                <a:latin typeface="Pretendard"/>
              </a:rPr>
              <a:t>● visionc ·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D1D9"/>
                </a:solidFill>
                <a:latin typeface="Consolas"/>
              </a:rPr>
              <a:t>Lv1 ·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9144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0" b="1">
                <a:solidFill>
                  <a:srgbClr val="F8F8F8"/>
                </a:solidFill>
                <a:latin typeface="Pretendard"/>
              </a:rPr>
              <a:t>기초 AI 상식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8D8F95"/>
                </a:solidFill>
                <a:latin typeface="Pretendard"/>
              </a:rPr>
              <a:t>모든 AI에 통하는 사용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12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D8F95"/>
                </a:solidFill>
                <a:latin typeface="Pretendard"/>
              </a:rPr>
              <a:t>강사 · VISIONC      코스 · FREE      분량 · 60 min</a:t>
            </a:r>
          </a:p>
        </p:txBody>
      </p:sp>
      <p:pic>
        <p:nvPicPr>
          <p:cNvPr id="9" name="Picture 8" descr="cat_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280160"/>
            <a:ext cx="2668191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D8F95"/>
                </a:solidFill>
                <a:latin typeface="Consolas"/>
              </a:rPr>
              <a:t>01 /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D1D9"/>
                </a:solidFill>
                <a:latin typeface="Consolas"/>
              </a:rPr>
              <a:t>INTRO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2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764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D8F95"/>
                </a:solidFill>
                <a:latin typeface="Pretendard"/>
              </a:rPr>
              <a:t>● visionc ·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D1D9"/>
                </a:solidFill>
                <a:latin typeface="Consolas"/>
              </a:rPr>
              <a:t>Today ·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F8F8F8"/>
                </a:solidFill>
                <a:latin typeface="Pretendard"/>
              </a:rPr>
              <a:t>오늘 함께 할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8D8F95"/>
                </a:solidFill>
                <a:latin typeface="Pretendard"/>
              </a:rPr>
              <a:t>60분이 끝나면 여러분은 이렇게 바뀝니다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4937760" cy="2743200"/>
          </a:xfrm>
          <a:prstGeom prst="roundRect">
            <a:avLst>
              <a:gd name="adj" fmla="val 6000"/>
            </a:avLst>
          </a:prstGeom>
          <a:solidFill>
            <a:srgbClr val="12101E"/>
          </a:solidFill>
          <a:ln w="9525">
            <a:solidFill>
              <a:srgbClr val="2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D1D9"/>
                </a:solidFill>
                <a:latin typeface="Consolas"/>
              </a:rPr>
              <a:t>무엇을 배우나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5196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8F8"/>
                </a:solidFill>
                <a:latin typeface="Pretendard"/>
              </a:rPr>
              <a:t>4단계 흐름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8F8"/>
                </a:solidFill>
                <a:latin typeface="Pretendard"/>
              </a:rPr>
              <a:t>✓  AI가 어떻게 답하는지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75504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8F8"/>
                </a:solidFill>
                <a:latin typeface="Pretendard"/>
              </a:rPr>
              <a:t>✓  4대 AI 도구의 차이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04688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8F8"/>
                </a:solidFill>
                <a:latin typeface="Pretendard"/>
              </a:rPr>
              <a:t>✓  핵심 원칙 4D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3387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8F8"/>
                </a:solidFill>
                <a:latin typeface="Pretendard"/>
              </a:rPr>
              <a:t>✓  내일 업무에 쓰는 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3657600"/>
            <a:ext cx="4937760" cy="2743200"/>
          </a:xfrm>
          <a:prstGeom prst="roundRect">
            <a:avLst>
              <a:gd name="adj" fmla="val 6000"/>
            </a:avLst>
          </a:prstGeom>
          <a:solidFill>
            <a:srgbClr val="12101E"/>
          </a:solidFill>
          <a:ln w="9525">
            <a:solidFill>
              <a:srgbClr val="2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93192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D1D9"/>
                </a:solidFill>
                <a:latin typeface="Consolas"/>
              </a:rPr>
              <a:t>무엇이 가능해지나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25196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8F8"/>
                </a:solidFill>
                <a:latin typeface="Pretendard"/>
              </a:rPr>
              <a:t>3가지 능력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84632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8F8"/>
                </a:solidFill>
                <a:latin typeface="Pretendard"/>
              </a:rPr>
              <a:t>✓  어떤 AI든 자신 있게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175504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8F8"/>
                </a:solidFill>
                <a:latin typeface="Pretendard"/>
              </a:rPr>
              <a:t>✓  좋은 결과 얻는 지시문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504688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8F8"/>
                </a:solidFill>
                <a:latin typeface="Pretendard"/>
              </a:rPr>
              <a:t>✓  AI 실수 알아채는 눈</a:t>
            </a:r>
          </a:p>
        </p:txBody>
      </p:sp>
      <p:pic>
        <p:nvPicPr>
          <p:cNvPr id="21" name="Picture 20" descr="cat_gu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914400"/>
            <a:ext cx="1645920" cy="1645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D8F95"/>
                </a:solidFill>
                <a:latin typeface="Consolas"/>
              </a:rPr>
              <a:t>02 / 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D1D9"/>
                </a:solidFill>
                <a:latin typeface="Consolas"/>
              </a:rPr>
              <a:t>TODAY ·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2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764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D8F95"/>
                </a:solidFill>
                <a:latin typeface="Pretendard"/>
              </a:rPr>
              <a:t>● visionc ·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D1D9"/>
                </a:solidFill>
                <a:latin typeface="Consolas"/>
              </a:rPr>
              <a:t>Chapter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F8F8F8"/>
                </a:solidFill>
                <a:latin typeface="Pretendard"/>
              </a:rPr>
              <a:t>지금이 AI 시대인 이유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657600"/>
            <a:ext cx="3108960" cy="2194560"/>
          </a:xfrm>
          <a:prstGeom prst="roundRect">
            <a:avLst>
              <a:gd name="adj" fmla="val 6000"/>
            </a:avLst>
          </a:prstGeom>
          <a:solidFill>
            <a:srgbClr val="12101E"/>
          </a:solidFill>
          <a:ln w="9525">
            <a:solidFill>
              <a:srgbClr val="2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D9BFF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8F8F8"/>
                </a:solidFill>
                <a:latin typeface="Pretendard"/>
              </a:rPr>
              <a:t>접근성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2064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8D8F95"/>
                </a:solidFill>
                <a:latin typeface="Pretendard"/>
              </a:rPr>
              <a:t>월 2만원으로 박사급 보조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3657600"/>
            <a:ext cx="3108960" cy="2194560"/>
          </a:xfrm>
          <a:prstGeom prst="roundRect">
            <a:avLst>
              <a:gd name="adj" fmla="val 6000"/>
            </a:avLst>
          </a:prstGeom>
          <a:solidFill>
            <a:srgbClr val="12101E"/>
          </a:solidFill>
          <a:ln w="9525">
            <a:solidFill>
              <a:srgbClr val="2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38862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D9BFF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429768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8F8F8"/>
                </a:solidFill>
                <a:latin typeface="Pretendard"/>
              </a:rPr>
              <a:t>속도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512064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8D8F95"/>
                </a:solidFill>
                <a:latin typeface="Pretendard"/>
              </a:rPr>
              <a:t>3시간 작업이 5분으로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3657600"/>
            <a:ext cx="3108960" cy="2194560"/>
          </a:xfrm>
          <a:prstGeom prst="roundRect">
            <a:avLst>
              <a:gd name="adj" fmla="val 6000"/>
            </a:avLst>
          </a:prstGeom>
          <a:solidFill>
            <a:srgbClr val="12101E"/>
          </a:solidFill>
          <a:ln w="9525">
            <a:solidFill>
              <a:srgbClr val="2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38862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D9BFF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429768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8F8F8"/>
                </a:solidFill>
                <a:latin typeface="Pretendard"/>
              </a:rPr>
              <a:t>격차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512064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8D8F95"/>
                </a:solidFill>
                <a:latin typeface="Pretendard"/>
              </a:rPr>
              <a:t>쓰는 사람 vs 안 쓰는 사람</a:t>
            </a:r>
          </a:p>
        </p:txBody>
      </p:sp>
      <p:pic>
        <p:nvPicPr>
          <p:cNvPr id="19" name="Picture 18" descr="cat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188720"/>
            <a:ext cx="2194560" cy="21945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D8F95"/>
                </a:solidFill>
                <a:latin typeface="Consolas"/>
              </a:rPr>
              <a:t>03 / 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D1D9"/>
                </a:solidFill>
                <a:latin typeface="Consolas"/>
              </a:rPr>
              <a:t>WHY · NOW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2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764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D8F95"/>
                </a:solidFill>
                <a:latin typeface="Pretendard"/>
              </a:rPr>
              <a:t>● visionc ·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D1D9"/>
                </a:solidFill>
                <a:latin typeface="Consolas"/>
              </a:rPr>
              <a:t>Chapter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0" b="1">
                <a:solidFill>
                  <a:srgbClr val="F8F8F8"/>
                </a:solidFill>
                <a:latin typeface="Pretendard"/>
              </a:rPr>
              <a:t>AI는 자동완성이다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8D8F95"/>
                </a:solidFill>
                <a:latin typeface="Pretendard"/>
              </a:rPr>
              <a:t>스마트폰 자동완성의 강력한 형태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1645920" cy="822960"/>
          </a:xfrm>
          <a:prstGeom prst="roundRect">
            <a:avLst>
              <a:gd name="adj" fmla="val 6000"/>
            </a:avLst>
          </a:prstGeom>
          <a:solidFill>
            <a:srgbClr val="12101E"/>
          </a:solidFill>
          <a:ln w="9525">
            <a:solidFill>
              <a:srgbClr val="2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16459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F8F8F8"/>
                </a:solidFill>
                <a:latin typeface="Consolas"/>
              </a:rPr>
              <a:t>한국의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3474720"/>
            <a:ext cx="3657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0">
                <a:solidFill>
                  <a:srgbClr val="8D8F95"/>
                </a:solidFill>
                <a:latin typeface="Pretendard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3474720"/>
            <a:ext cx="1645920" cy="822960"/>
          </a:xfrm>
          <a:prstGeom prst="roundRect">
            <a:avLst>
              <a:gd name="adj" fmla="val 6000"/>
            </a:avLst>
          </a:prstGeom>
          <a:solidFill>
            <a:srgbClr val="12101E"/>
          </a:solidFill>
          <a:ln w="9525">
            <a:solidFill>
              <a:srgbClr val="2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3474720"/>
            <a:ext cx="16459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F8F8F8"/>
                </a:solidFill>
                <a:latin typeface="Consolas"/>
              </a:rPr>
              <a:t>수도는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474720"/>
            <a:ext cx="3657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0">
                <a:solidFill>
                  <a:srgbClr val="8D8F95"/>
                </a:solidFill>
                <a:latin typeface="Pretendard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3474720"/>
            <a:ext cx="1645920" cy="822960"/>
          </a:xfrm>
          <a:prstGeom prst="roundRect">
            <a:avLst>
              <a:gd name="adj" fmla="val 6000"/>
            </a:avLst>
          </a:prstGeom>
          <a:solidFill>
            <a:srgbClr val="764BE5"/>
          </a:solidFill>
          <a:ln w="9525">
            <a:solidFill>
              <a:srgbClr val="A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3474720"/>
            <a:ext cx="16459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8F8F8"/>
                </a:solidFill>
                <a:latin typeface="Consolas"/>
              </a:rPr>
              <a:t>서울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474720"/>
            <a:ext cx="3657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0">
                <a:solidFill>
                  <a:srgbClr val="8D8F95"/>
                </a:solidFill>
                <a:latin typeface="Pretendard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3474720"/>
            <a:ext cx="1645920" cy="822960"/>
          </a:xfrm>
          <a:prstGeom prst="roundRect">
            <a:avLst>
              <a:gd name="adj" fmla="val 6000"/>
            </a:avLst>
          </a:prstGeom>
          <a:solidFill>
            <a:srgbClr val="12101E"/>
          </a:solidFill>
          <a:ln w="9525">
            <a:solidFill>
              <a:srgbClr val="2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3474720"/>
            <a:ext cx="16459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F8F8F8"/>
                </a:solidFill>
                <a:latin typeface="Consolas"/>
              </a:rPr>
              <a:t>이다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8463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8F8F8"/>
                </a:solidFill>
                <a:latin typeface="Pretendard"/>
              </a:rPr>
              <a:t>핵심: 가장 그럴듯한 다음 단어를 예측한다.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49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AD9BFF"/>
                </a:solidFill>
                <a:latin typeface="Pretendard"/>
              </a:rPr>
              <a:t>→ 가끔 그럴듯한 거짓말도 한다. 검증이 필수.</a:t>
            </a:r>
          </a:p>
        </p:txBody>
      </p:sp>
      <p:pic>
        <p:nvPicPr>
          <p:cNvPr id="21" name="Picture 20" descr="cat_gu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914400"/>
            <a:ext cx="1828800" cy="1828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D8F95"/>
                </a:solidFill>
                <a:latin typeface="Consolas"/>
              </a:rPr>
              <a:t>04 / 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D1D9"/>
                </a:solidFill>
                <a:latin typeface="Consolas"/>
              </a:rPr>
              <a:t>HOW · AI · WORKS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2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764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D8F95"/>
                </a:solidFill>
                <a:latin typeface="Pretendard"/>
              </a:rPr>
              <a:t>● visionc ·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D1D9"/>
                </a:solidFill>
                <a:latin typeface="Consolas"/>
              </a:rPr>
              <a:t>Chapter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F8F8F8"/>
                </a:solidFill>
                <a:latin typeface="Pretendard"/>
              </a:rPr>
              <a:t>4대 AI 한눈에 보기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2697480" cy="2926080"/>
          </a:xfrm>
          <a:prstGeom prst="roundRect">
            <a:avLst>
              <a:gd name="adj" fmla="val 6000"/>
            </a:avLst>
          </a:prstGeom>
          <a:solidFill>
            <a:srgbClr val="12101E"/>
          </a:solidFill>
          <a:ln w="9525">
            <a:solidFill>
              <a:srgbClr val="2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3383280"/>
            <a:ext cx="502920" cy="502920"/>
          </a:xfrm>
          <a:prstGeom prst="ellipse">
            <a:avLst/>
          </a:prstGeom>
          <a:solidFill>
            <a:srgbClr val="764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010203"/>
                </a:solidFill>
                <a:latin typeface="Pretendard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6908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8F8"/>
                </a:solidFill>
                <a:latin typeface="Pretendard"/>
              </a:rPr>
              <a:t>Claude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8F95"/>
                </a:solidFill>
                <a:latin typeface="Consolas"/>
              </a:rPr>
              <a:t>Anthropic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93776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8F8"/>
                </a:solidFill>
                <a:latin typeface="Pretendard"/>
              </a:rPr>
              <a:t>• 긴 문서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25780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8F8"/>
                </a:solidFill>
                <a:latin typeface="Pretendard"/>
              </a:rPr>
              <a:t>• 글쓰기·코딩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57784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8F8"/>
                </a:solidFill>
                <a:latin typeface="Pretendard"/>
              </a:rPr>
              <a:t>• 안전·정확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3108960"/>
            <a:ext cx="2697480" cy="2926080"/>
          </a:xfrm>
          <a:prstGeom prst="roundRect">
            <a:avLst>
              <a:gd name="adj" fmla="val 6000"/>
            </a:avLst>
          </a:prstGeom>
          <a:solidFill>
            <a:srgbClr val="12101E"/>
          </a:solidFill>
          <a:ln w="9525">
            <a:solidFill>
              <a:srgbClr val="2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3383280"/>
            <a:ext cx="502920" cy="502920"/>
          </a:xfrm>
          <a:prstGeom prst="ellipse">
            <a:avLst/>
          </a:prstGeom>
          <a:solidFill>
            <a:srgbClr val="2DD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33832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010203"/>
                </a:solidFill>
                <a:latin typeface="Pretendard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406908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8F8"/>
                </a:solidFill>
                <a:latin typeface="Pretendard"/>
              </a:rPr>
              <a:t>ChatGPT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5720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8F95"/>
                </a:solidFill>
                <a:latin typeface="Consolas"/>
              </a:rPr>
              <a:t>OpenAI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493776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8F8"/>
                </a:solidFill>
                <a:latin typeface="Pretendard"/>
              </a:rPr>
              <a:t>• 범용성 1위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525780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8F8"/>
                </a:solidFill>
                <a:latin typeface="Pretendard"/>
              </a:rPr>
              <a:t>• 이미지·음성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557784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8F8"/>
                </a:solidFill>
                <a:latin typeface="Pretendard"/>
              </a:rPr>
              <a:t>• 플러그인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3108960"/>
            <a:ext cx="2697480" cy="2926080"/>
          </a:xfrm>
          <a:prstGeom prst="roundRect">
            <a:avLst>
              <a:gd name="adj" fmla="val 6000"/>
            </a:avLst>
          </a:prstGeom>
          <a:solidFill>
            <a:srgbClr val="12101E"/>
          </a:solidFill>
          <a:ln w="9525">
            <a:solidFill>
              <a:srgbClr val="2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63640" y="3383280"/>
            <a:ext cx="502920" cy="502920"/>
          </a:xfrm>
          <a:prstGeom prst="ellipse">
            <a:avLst/>
          </a:prstGeom>
          <a:solidFill>
            <a:srgbClr val="00D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33832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010203"/>
                </a:solidFill>
                <a:latin typeface="Pretendard"/>
              </a:rPr>
              <a:t>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06908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8F8"/>
                </a:solidFill>
                <a:latin typeface="Pretendard"/>
              </a:rPr>
              <a:t>Gemini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5720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8F95"/>
                </a:solidFill>
                <a:latin typeface="Consolas"/>
              </a:rPr>
              <a:t>Google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93776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8F8"/>
                </a:solidFill>
                <a:latin typeface="Pretendard"/>
              </a:rPr>
              <a:t>• 구글 연동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525780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8F8"/>
                </a:solidFill>
                <a:latin typeface="Pretendard"/>
              </a:rPr>
              <a:t>• 실시간 검색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57784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8F8"/>
                </a:solidFill>
                <a:latin typeface="Pretendard"/>
              </a:rPr>
              <a:t>• 유튜브 요약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78240" y="3108960"/>
            <a:ext cx="2697480" cy="2926080"/>
          </a:xfrm>
          <a:prstGeom prst="roundRect">
            <a:avLst>
              <a:gd name="adj" fmla="val 6000"/>
            </a:avLst>
          </a:prstGeom>
          <a:solidFill>
            <a:srgbClr val="12101E"/>
          </a:solidFill>
          <a:ln w="9525">
            <a:solidFill>
              <a:srgbClr val="2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006840" y="3383280"/>
            <a:ext cx="502920" cy="502920"/>
          </a:xfrm>
          <a:prstGeom prst="ellipse">
            <a:avLst/>
          </a:prstGeom>
          <a:solidFill>
            <a:srgbClr val="FFC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06840" y="33832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010203"/>
                </a:solidFill>
                <a:latin typeface="Pretendard"/>
              </a:rPr>
              <a:t>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406908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8F8"/>
                </a:solidFill>
                <a:latin typeface="Pretendard"/>
              </a:rPr>
              <a:t>Perplexity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45720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8F95"/>
                </a:solidFill>
                <a:latin typeface="Consolas"/>
              </a:rPr>
              <a:t>Search 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40" y="493776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8F8"/>
                </a:solidFill>
                <a:latin typeface="Pretendard"/>
              </a:rPr>
              <a:t>• 출처 포함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525780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8F8"/>
                </a:solidFill>
                <a:latin typeface="Pretendard"/>
              </a:rPr>
              <a:t>• 리서치 1위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557784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8F8F8"/>
                </a:solidFill>
                <a:latin typeface="Pretendard"/>
              </a:rPr>
              <a:t>• 실시간 정보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D8F95"/>
                </a:solidFill>
                <a:latin typeface="Consolas"/>
              </a:rPr>
              <a:t>05 / 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D1D9"/>
                </a:solidFill>
                <a:latin typeface="Consolas"/>
              </a:rPr>
              <a:t>TOOLS · COMPARE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2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764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D8F95"/>
                </a:solidFill>
                <a:latin typeface="Pretendard"/>
              </a:rPr>
              <a:t>● visionc ·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D1D9"/>
                </a:solidFill>
                <a:latin typeface="Consolas"/>
              </a:rPr>
              <a:t>Chapter 04 · The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>
                <a:solidFill>
                  <a:srgbClr val="F8F8F8"/>
                </a:solidFill>
                <a:latin typeface="Pretendard"/>
              </a:rPr>
              <a:t>AI와 일하는 4D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8D8F95"/>
                </a:solidFill>
                <a:latin typeface="Pretendard"/>
              </a:rPr>
              <a:t>모든 AI에 통하는 협업 원칙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D8F95"/>
                </a:solidFill>
                <a:latin typeface="Consolas"/>
              </a:rPr>
              <a:t>출처 · Rick Dakan (Ringling College) + Joseph Feller (UCC) · Anthropic 공식 채택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4048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12101E"/>
          </a:solidFill>
          <a:ln w="9525">
            <a:solidFill>
              <a:srgbClr val="2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114800"/>
            <a:ext cx="2057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>
                <a:solidFill>
                  <a:srgbClr val="AD9BFF"/>
                </a:solidFill>
                <a:latin typeface="Consolas"/>
              </a:rPr>
              <a:t>D1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2064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8F8F8"/>
                </a:solidFill>
                <a:latin typeface="Pretendard"/>
              </a:rPr>
              <a:t>위임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7784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8F95"/>
                </a:solidFill>
                <a:latin typeface="Consolas"/>
              </a:rPr>
              <a:t>Delegation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D8F95"/>
                </a:solidFill>
                <a:latin typeface="Pretendard"/>
              </a:rPr>
              <a:t>무엇을 맡길지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64408" y="384048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12101E"/>
          </a:solidFill>
          <a:ln w="9525">
            <a:solidFill>
              <a:srgbClr val="2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4114800"/>
            <a:ext cx="2057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>
                <a:solidFill>
                  <a:srgbClr val="AD9BFF"/>
                </a:solidFill>
                <a:latin typeface="Consolas"/>
              </a:rPr>
              <a:t>D2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512064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8F8F8"/>
                </a:solidFill>
                <a:latin typeface="Pretendard"/>
              </a:rPr>
              <a:t>설명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557784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8F95"/>
                </a:solidFill>
                <a:latin typeface="Consolas"/>
              </a:rPr>
              <a:t>Description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594360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D8F95"/>
                </a:solidFill>
                <a:latin typeface="Pretendard"/>
              </a:rPr>
              <a:t>어떻게 지시할지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0176" y="384048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12101E"/>
          </a:solidFill>
          <a:ln w="9525">
            <a:solidFill>
              <a:srgbClr val="2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4496" y="4114800"/>
            <a:ext cx="2057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>
                <a:solidFill>
                  <a:srgbClr val="AD9BFF"/>
                </a:solidFill>
                <a:latin typeface="Consolas"/>
              </a:rPr>
              <a:t>D3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512064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8F8F8"/>
                </a:solidFill>
                <a:latin typeface="Pretendard"/>
              </a:rPr>
              <a:t>판단력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557784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8F95"/>
                </a:solidFill>
                <a:latin typeface="Consolas"/>
              </a:rPr>
              <a:t>Discernment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4496" y="594360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D8F95"/>
                </a:solidFill>
                <a:latin typeface="Pretendard"/>
              </a:rPr>
              <a:t>어떻게 판단할지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95944" y="384048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12101E"/>
          </a:solidFill>
          <a:ln w="9525">
            <a:solidFill>
              <a:srgbClr val="2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70264" y="4114800"/>
            <a:ext cx="2057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>
                <a:solidFill>
                  <a:srgbClr val="AD9BFF"/>
                </a:solidFill>
                <a:latin typeface="Consolas"/>
              </a:rPr>
              <a:t>D4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0264" y="512064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8F8F8"/>
                </a:solidFill>
                <a:latin typeface="Pretendard"/>
              </a:rPr>
              <a:t>성실성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0264" y="557784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D8F95"/>
                </a:solidFill>
                <a:latin typeface="Consolas"/>
              </a:rPr>
              <a:t>Diligence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0264" y="594360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D8F95"/>
                </a:solidFill>
                <a:latin typeface="Pretendard"/>
              </a:rPr>
              <a:t>어떻게 책임질지</a:t>
            </a:r>
          </a:p>
        </p:txBody>
      </p:sp>
      <p:pic>
        <p:nvPicPr>
          <p:cNvPr id="29" name="Picture 28" descr="cat_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822960"/>
            <a:ext cx="1645920" cy="16459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D8F95"/>
                </a:solidFill>
                <a:latin typeface="Consolas"/>
              </a:rPr>
              <a:t>06 / 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D1D9"/>
                </a:solidFill>
                <a:latin typeface="Consolas"/>
              </a:rPr>
              <a:t>4D · FRAMEWORK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2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764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D8F95"/>
                </a:solidFill>
                <a:latin typeface="Pretendard"/>
              </a:rPr>
              <a:t>● visionc ·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D1D9"/>
                </a:solidFill>
                <a:latin typeface="Consolas"/>
              </a:rPr>
              <a:t>STEP 01 OF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3657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>
                <a:solidFill>
                  <a:srgbClr val="AD9BFF"/>
                </a:solidFill>
                <a:latin typeface="Consolas"/>
              </a:rPr>
              <a:t>D1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>
                <a:solidFill>
                  <a:srgbClr val="F8F8F8"/>
                </a:solidFill>
                <a:latin typeface="Pretendard"/>
              </a:rPr>
              <a:t>위임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8D8F95"/>
                </a:solidFill>
                <a:latin typeface="Consolas"/>
              </a:rPr>
              <a:t>Delegation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3716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D9BFF"/>
                </a:solidFill>
                <a:latin typeface="Pretendard"/>
              </a:rPr>
              <a:t>무엇을 AI에 맡길 것인가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2011680"/>
            <a:ext cx="73152" cy="822960"/>
          </a:xfrm>
          <a:prstGeom prst="rect">
            <a:avLst/>
          </a:prstGeom>
          <a:solidFill>
            <a:srgbClr val="764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23560" y="2011680"/>
            <a:ext cx="4983480" cy="822960"/>
          </a:xfrm>
          <a:prstGeom prst="roundRect">
            <a:avLst>
              <a:gd name="adj" fmla="val 6000"/>
            </a:avLst>
          </a:prstGeom>
          <a:solidFill>
            <a:srgbClr val="010203"/>
          </a:solidFill>
          <a:ln w="9525">
            <a:solidFill>
              <a:srgbClr val="2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214884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8F8F8"/>
                </a:solidFill>
                <a:latin typeface="Pretendard"/>
              </a:rPr>
              <a:t>반복 작업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51460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D8F95"/>
                </a:solidFill>
                <a:latin typeface="Pretendard"/>
              </a:rPr>
              <a:t>요약 · 번역 · 분류 · 정리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3017520"/>
            <a:ext cx="73152" cy="822960"/>
          </a:xfrm>
          <a:prstGeom prst="rect">
            <a:avLst/>
          </a:prstGeom>
          <a:solidFill>
            <a:srgbClr val="764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23560" y="3017520"/>
            <a:ext cx="4983480" cy="822960"/>
          </a:xfrm>
          <a:prstGeom prst="roundRect">
            <a:avLst>
              <a:gd name="adj" fmla="val 6000"/>
            </a:avLst>
          </a:prstGeom>
          <a:solidFill>
            <a:srgbClr val="010203"/>
          </a:solidFill>
          <a:ln w="9525">
            <a:solidFill>
              <a:srgbClr val="2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315468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8F8F8"/>
                </a:solidFill>
                <a:latin typeface="Pretendard"/>
              </a:rPr>
              <a:t>초안 만들기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52044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D8F95"/>
                </a:solidFill>
                <a:latin typeface="Pretendard"/>
              </a:rPr>
              <a:t>기획서 · 카피 · 이메일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4023360"/>
            <a:ext cx="73152" cy="822960"/>
          </a:xfrm>
          <a:prstGeom prst="rect">
            <a:avLst/>
          </a:prstGeom>
          <a:solidFill>
            <a:srgbClr val="764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23560" y="4023360"/>
            <a:ext cx="4983480" cy="822960"/>
          </a:xfrm>
          <a:prstGeom prst="roundRect">
            <a:avLst>
              <a:gd name="adj" fmla="val 6000"/>
            </a:avLst>
          </a:prstGeom>
          <a:solidFill>
            <a:srgbClr val="010203"/>
          </a:solidFill>
          <a:ln w="9525">
            <a:solidFill>
              <a:srgbClr val="2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416052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8F8F8"/>
                </a:solidFill>
                <a:latin typeface="Pretendard"/>
              </a:rPr>
              <a:t>아이디어 확장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452628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D8F95"/>
                </a:solidFill>
                <a:latin typeface="Pretendard"/>
              </a:rPr>
              <a:t>브레인스토밍 · 시나리오</a:t>
            </a:r>
          </a:p>
        </p:txBody>
      </p:sp>
      <p:pic>
        <p:nvPicPr>
          <p:cNvPr id="22" name="Picture 21" descr="cat_ui_li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640080"/>
            <a:ext cx="771525" cy="10972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D8F95"/>
                </a:solidFill>
                <a:latin typeface="Consolas"/>
              </a:rPr>
              <a:t>07 / 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D1D9"/>
                </a:solidFill>
                <a:latin typeface="Consolas"/>
              </a:rPr>
              <a:t>D1 · DELEGATION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2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764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D8F95"/>
                </a:solidFill>
                <a:latin typeface="Pretendard"/>
              </a:rPr>
              <a:t>● visionc ·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D1D9"/>
                </a:solidFill>
                <a:latin typeface="Consolas"/>
              </a:rPr>
              <a:t>STEP 02 OF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3657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>
                <a:solidFill>
                  <a:srgbClr val="AD9BFF"/>
                </a:solidFill>
                <a:latin typeface="Consolas"/>
              </a:rPr>
              <a:t>D2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>
                <a:solidFill>
                  <a:srgbClr val="F8F8F8"/>
                </a:solidFill>
                <a:latin typeface="Pretendard"/>
              </a:rPr>
              <a:t>설명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8D8F95"/>
                </a:solidFill>
                <a:latin typeface="Consolas"/>
              </a:rPr>
              <a:t>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3716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D9BFF"/>
                </a:solidFill>
                <a:latin typeface="Pretendard"/>
              </a:rPr>
              <a:t>좋은 지시문 = 4요소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2011680"/>
            <a:ext cx="73152" cy="822960"/>
          </a:xfrm>
          <a:prstGeom prst="rect">
            <a:avLst/>
          </a:prstGeom>
          <a:solidFill>
            <a:srgbClr val="764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23560" y="2011680"/>
            <a:ext cx="4983480" cy="822960"/>
          </a:xfrm>
          <a:prstGeom prst="roundRect">
            <a:avLst>
              <a:gd name="adj" fmla="val 6000"/>
            </a:avLst>
          </a:prstGeom>
          <a:solidFill>
            <a:srgbClr val="010203"/>
          </a:solidFill>
          <a:ln w="9525">
            <a:solidFill>
              <a:srgbClr val="2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214884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8F8F8"/>
                </a:solidFill>
                <a:latin typeface="Pretendard"/>
              </a:rPr>
              <a:t>① 역할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51460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D8F95"/>
                </a:solidFill>
                <a:latin typeface="Pretendard"/>
              </a:rPr>
              <a:t>"당신은 10년 경력 카피라이터다"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3017520"/>
            <a:ext cx="73152" cy="822960"/>
          </a:xfrm>
          <a:prstGeom prst="rect">
            <a:avLst/>
          </a:prstGeom>
          <a:solidFill>
            <a:srgbClr val="764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23560" y="3017520"/>
            <a:ext cx="4983480" cy="822960"/>
          </a:xfrm>
          <a:prstGeom prst="roundRect">
            <a:avLst>
              <a:gd name="adj" fmla="val 6000"/>
            </a:avLst>
          </a:prstGeom>
          <a:solidFill>
            <a:srgbClr val="010203"/>
          </a:solidFill>
          <a:ln w="9525">
            <a:solidFill>
              <a:srgbClr val="2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315468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8F8F8"/>
                </a:solidFill>
                <a:latin typeface="Pretendard"/>
              </a:rPr>
              <a:t>② 맥락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52044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D8F95"/>
                </a:solidFill>
                <a:latin typeface="Pretendard"/>
              </a:rPr>
              <a:t>우리 가게 · 고객 · 상황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4023360"/>
            <a:ext cx="73152" cy="822960"/>
          </a:xfrm>
          <a:prstGeom prst="rect">
            <a:avLst/>
          </a:prstGeom>
          <a:solidFill>
            <a:srgbClr val="764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23560" y="4023360"/>
            <a:ext cx="4983480" cy="822960"/>
          </a:xfrm>
          <a:prstGeom prst="roundRect">
            <a:avLst>
              <a:gd name="adj" fmla="val 6000"/>
            </a:avLst>
          </a:prstGeom>
          <a:solidFill>
            <a:srgbClr val="010203"/>
          </a:solidFill>
          <a:ln w="9525">
            <a:solidFill>
              <a:srgbClr val="2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416052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8F8F8"/>
                </a:solidFill>
                <a:latin typeface="Pretendard"/>
              </a:rPr>
              <a:t>③ 작업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452628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D8F95"/>
                </a:solidFill>
                <a:latin typeface="Pretendard"/>
              </a:rPr>
              <a:t>정확히 무엇을 만들지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5029200"/>
            <a:ext cx="73152" cy="822960"/>
          </a:xfrm>
          <a:prstGeom prst="rect">
            <a:avLst/>
          </a:prstGeom>
          <a:solidFill>
            <a:srgbClr val="764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23560" y="5029200"/>
            <a:ext cx="4983480" cy="822960"/>
          </a:xfrm>
          <a:prstGeom prst="roundRect">
            <a:avLst>
              <a:gd name="adj" fmla="val 6000"/>
            </a:avLst>
          </a:prstGeom>
          <a:solidFill>
            <a:srgbClr val="010203"/>
          </a:solidFill>
          <a:ln w="9525">
            <a:solidFill>
              <a:srgbClr val="2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516636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8F8F8"/>
                </a:solidFill>
                <a:latin typeface="Pretendard"/>
              </a:rPr>
              <a:t>④ 형식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55321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D8F95"/>
                </a:solidFill>
                <a:latin typeface="Pretendard"/>
              </a:rPr>
              <a:t>길이 · 톤 · 글머리표</a:t>
            </a:r>
          </a:p>
        </p:txBody>
      </p:sp>
      <p:pic>
        <p:nvPicPr>
          <p:cNvPr id="26" name="Picture 25" descr="cat_ui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640080"/>
            <a:ext cx="840105" cy="10972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D8F95"/>
                </a:solidFill>
                <a:latin typeface="Consolas"/>
              </a:rPr>
              <a:t>08 / 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D1D9"/>
                </a:solidFill>
                <a:latin typeface="Consolas"/>
              </a:rPr>
              <a:t>D2 · DESCRIPTION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2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764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D8F95"/>
                </a:solidFill>
                <a:latin typeface="Pretendard"/>
              </a:rPr>
              <a:t>● visionc ·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D1D9"/>
                </a:solidFill>
                <a:latin typeface="Consolas"/>
              </a:rPr>
              <a:t>STEP 03 OF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3657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>
                <a:solidFill>
                  <a:srgbClr val="AD9BFF"/>
                </a:solidFill>
                <a:latin typeface="Consolas"/>
              </a:rPr>
              <a:t>D3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>
                <a:solidFill>
                  <a:srgbClr val="F8F8F8"/>
                </a:solidFill>
                <a:latin typeface="Pretendard"/>
              </a:rPr>
              <a:t>판단력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8D8F95"/>
                </a:solidFill>
                <a:latin typeface="Consolas"/>
              </a:rPr>
              <a:t>Discernment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3716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D9BFF"/>
                </a:solidFill>
                <a:latin typeface="Pretendard"/>
              </a:rPr>
              <a:t>결과를 어떻게 판단할까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2011680"/>
            <a:ext cx="73152" cy="822960"/>
          </a:xfrm>
          <a:prstGeom prst="rect">
            <a:avLst/>
          </a:prstGeom>
          <a:solidFill>
            <a:srgbClr val="764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23560" y="2011680"/>
            <a:ext cx="4983480" cy="822960"/>
          </a:xfrm>
          <a:prstGeom prst="roundRect">
            <a:avLst>
              <a:gd name="adj" fmla="val 6000"/>
            </a:avLst>
          </a:prstGeom>
          <a:solidFill>
            <a:srgbClr val="010203"/>
          </a:solidFill>
          <a:ln w="9525">
            <a:solidFill>
              <a:srgbClr val="2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214884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8F8F8"/>
                </a:solidFill>
                <a:latin typeface="Pretendard"/>
              </a:rPr>
              <a:t>사실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51460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D8F95"/>
                </a:solidFill>
                <a:latin typeface="Pretendard"/>
              </a:rPr>
              <a:t>출처 · 수치 · 인용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3017520"/>
            <a:ext cx="73152" cy="822960"/>
          </a:xfrm>
          <a:prstGeom prst="rect">
            <a:avLst/>
          </a:prstGeom>
          <a:solidFill>
            <a:srgbClr val="764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23560" y="3017520"/>
            <a:ext cx="4983480" cy="822960"/>
          </a:xfrm>
          <a:prstGeom prst="roundRect">
            <a:avLst>
              <a:gd name="adj" fmla="val 6000"/>
            </a:avLst>
          </a:prstGeom>
          <a:solidFill>
            <a:srgbClr val="010203"/>
          </a:solidFill>
          <a:ln w="9525">
            <a:solidFill>
              <a:srgbClr val="2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315468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8F8F8"/>
                </a:solidFill>
                <a:latin typeface="Pretendard"/>
              </a:rPr>
              <a:t>맥락 적합성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52044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D8F95"/>
                </a:solidFill>
                <a:latin typeface="Pretendard"/>
              </a:rPr>
              <a:t>대상 · 톤 · 목적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4023360"/>
            <a:ext cx="73152" cy="822960"/>
          </a:xfrm>
          <a:prstGeom prst="rect">
            <a:avLst/>
          </a:prstGeom>
          <a:solidFill>
            <a:srgbClr val="764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23560" y="4023360"/>
            <a:ext cx="4983480" cy="822960"/>
          </a:xfrm>
          <a:prstGeom prst="roundRect">
            <a:avLst>
              <a:gd name="adj" fmla="val 6000"/>
            </a:avLst>
          </a:prstGeom>
          <a:solidFill>
            <a:srgbClr val="010203"/>
          </a:solidFill>
          <a:ln w="9525">
            <a:solidFill>
              <a:srgbClr val="2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416052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8F8F8"/>
                </a:solidFill>
                <a:latin typeface="Pretendard"/>
              </a:rPr>
              <a:t>편향 점검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452628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D8F95"/>
                </a:solidFill>
                <a:latin typeface="Pretendard"/>
              </a:rPr>
              <a:t>한쪽으로 치우치지 않았나</a:t>
            </a:r>
          </a:p>
        </p:txBody>
      </p:sp>
      <p:pic>
        <p:nvPicPr>
          <p:cNvPr id="22" name="Picture 21" descr="cat_no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640080"/>
            <a:ext cx="960120" cy="10972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D8F95"/>
                </a:solidFill>
                <a:latin typeface="Consolas"/>
              </a:rPr>
              <a:t>09 / 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D1D9"/>
                </a:solidFill>
                <a:latin typeface="Consolas"/>
              </a:rPr>
              <a:t>D3 · DISCERNMENT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2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764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D8F95"/>
                </a:solidFill>
                <a:latin typeface="Pretendard"/>
              </a:rPr>
              <a:t>● visionc ·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D1D9"/>
                </a:solidFill>
                <a:latin typeface="Consolas"/>
              </a:rPr>
              <a:t>STEP 04 OF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3657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>
                <a:solidFill>
                  <a:srgbClr val="AD9BFF"/>
                </a:solidFill>
                <a:latin typeface="Consolas"/>
              </a:rPr>
              <a:t>D4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>
                <a:solidFill>
                  <a:srgbClr val="F8F8F8"/>
                </a:solidFill>
                <a:latin typeface="Pretendard"/>
              </a:rPr>
              <a:t>성실성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8D8F95"/>
                </a:solidFill>
                <a:latin typeface="Consolas"/>
              </a:rPr>
              <a:t>Diligence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3716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D9BFF"/>
                </a:solidFill>
                <a:latin typeface="Pretendard"/>
              </a:rPr>
              <a:t>최종 책임은 사람에게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2011680"/>
            <a:ext cx="73152" cy="822960"/>
          </a:xfrm>
          <a:prstGeom prst="rect">
            <a:avLst/>
          </a:prstGeom>
          <a:solidFill>
            <a:srgbClr val="764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23560" y="2011680"/>
            <a:ext cx="4983480" cy="822960"/>
          </a:xfrm>
          <a:prstGeom prst="roundRect">
            <a:avLst>
              <a:gd name="adj" fmla="val 6000"/>
            </a:avLst>
          </a:prstGeom>
          <a:solidFill>
            <a:srgbClr val="010203"/>
          </a:solidFill>
          <a:ln w="9525">
            <a:solidFill>
              <a:srgbClr val="2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214884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8F8F8"/>
                </a:solidFill>
                <a:latin typeface="Pretendard"/>
              </a:rPr>
              <a:t>비밀 정보 보호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51460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D8F95"/>
                </a:solidFill>
                <a:latin typeface="Pretendard"/>
              </a:rPr>
              <a:t>고객 · 내부 · 인사 데이터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3017520"/>
            <a:ext cx="73152" cy="822960"/>
          </a:xfrm>
          <a:prstGeom prst="rect">
            <a:avLst/>
          </a:prstGeom>
          <a:solidFill>
            <a:srgbClr val="764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23560" y="3017520"/>
            <a:ext cx="4983480" cy="822960"/>
          </a:xfrm>
          <a:prstGeom prst="roundRect">
            <a:avLst>
              <a:gd name="adj" fmla="val 6000"/>
            </a:avLst>
          </a:prstGeom>
          <a:solidFill>
            <a:srgbClr val="010203"/>
          </a:solidFill>
          <a:ln w="9525">
            <a:solidFill>
              <a:srgbClr val="2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315468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8F8F8"/>
                </a:solidFill>
                <a:latin typeface="Pretendard"/>
              </a:rPr>
              <a:t>저작권·출처 표시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52044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D8F95"/>
                </a:solidFill>
                <a:latin typeface="Pretendard"/>
              </a:rPr>
              <a:t>생성물 활용 시 표기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4023360"/>
            <a:ext cx="73152" cy="822960"/>
          </a:xfrm>
          <a:prstGeom prst="rect">
            <a:avLst/>
          </a:prstGeom>
          <a:solidFill>
            <a:srgbClr val="764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23560" y="4023360"/>
            <a:ext cx="4983480" cy="822960"/>
          </a:xfrm>
          <a:prstGeom prst="roundRect">
            <a:avLst>
              <a:gd name="adj" fmla="val 6000"/>
            </a:avLst>
          </a:prstGeom>
          <a:solidFill>
            <a:srgbClr val="010203"/>
          </a:solidFill>
          <a:ln w="9525">
            <a:solidFill>
              <a:srgbClr val="2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416052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8F8F8"/>
                </a:solidFill>
                <a:latin typeface="Pretendard"/>
              </a:rPr>
              <a:t>최종 검토 의무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452628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D8F95"/>
                </a:solidFill>
                <a:latin typeface="Pretendard"/>
              </a:rPr>
              <a:t>AI가 아닌 내가 발표한다</a:t>
            </a:r>
          </a:p>
        </p:txBody>
      </p:sp>
      <p:pic>
        <p:nvPicPr>
          <p:cNvPr id="22" name="Picture 21" descr="cat_sup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640080"/>
            <a:ext cx="1525905" cy="10972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D8F95"/>
                </a:solidFill>
                <a:latin typeface="Consolas"/>
              </a:rPr>
              <a:t>10 / 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D1D9"/>
                </a:solidFill>
                <a:latin typeface="Consolas"/>
              </a:rPr>
              <a:t>D4 · DILIGENCE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2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764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D8F95"/>
                </a:solidFill>
                <a:latin typeface="Pretendard"/>
              </a:rPr>
              <a:t>● visionc ·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D1D9"/>
                </a:solidFill>
                <a:latin typeface="Consolas"/>
              </a:rPr>
              <a:t>Wrap-up ·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F8F8F8"/>
                </a:solidFill>
                <a:latin typeface="Pretendard"/>
              </a:rPr>
              <a:t>오늘 한 줄 정리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10058400" cy="1280160"/>
          </a:xfrm>
          <a:prstGeom prst="roundRect">
            <a:avLst>
              <a:gd name="adj" fmla="val 6000"/>
            </a:avLst>
          </a:prstGeom>
          <a:solidFill>
            <a:srgbClr val="12101E"/>
          </a:solidFill>
          <a:ln w="9525">
            <a:solidFill>
              <a:srgbClr val="764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8F8F8"/>
                </a:solidFill>
                <a:latin typeface="Pretendard"/>
              </a:rPr>
              <a:t>AI는 자동완성이다 · 그래서 4D로 다룬다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AD9BFF"/>
                </a:solidFill>
                <a:latin typeface="Pretendard"/>
              </a:rPr>
              <a:t>위임 → 설명 → 판단력 → 성실성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97680"/>
            <a:ext cx="3337560" cy="1828800"/>
          </a:xfrm>
          <a:prstGeom prst="roundRect">
            <a:avLst>
              <a:gd name="adj" fmla="val 6000"/>
            </a:avLst>
          </a:prstGeom>
          <a:solidFill>
            <a:srgbClr val="12101E"/>
          </a:solidFill>
          <a:ln w="9525">
            <a:solidFill>
              <a:srgbClr val="764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D1D9"/>
                </a:solidFill>
                <a:latin typeface="Consolas"/>
              </a:rPr>
              <a:t>LV1 · 완료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9204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8F8F8"/>
                </a:solidFill>
                <a:latin typeface="Pretendard"/>
              </a:rPr>
              <a:t>기초 AI 상식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9496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D8F95"/>
                </a:solidFill>
                <a:latin typeface="Pretendard"/>
              </a:rPr>
              <a:t>오늘 배운 4D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4498848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764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44988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8F8F8"/>
                </a:solidFill>
                <a:latin typeface="Consolas"/>
              </a:rPr>
              <a:t>YOU ARE HERE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50792" y="4297680"/>
            <a:ext cx="3337560" cy="1828800"/>
          </a:xfrm>
          <a:prstGeom prst="roundRect">
            <a:avLst>
              <a:gd name="adj" fmla="val 6000"/>
            </a:avLst>
          </a:prstGeom>
          <a:solidFill>
            <a:srgbClr val="12101E"/>
          </a:solidFill>
          <a:ln w="9525">
            <a:solidFill>
              <a:srgbClr val="2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5112" y="452628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D9BFF"/>
                </a:solidFill>
                <a:latin typeface="Consolas"/>
              </a:rPr>
              <a:t>LV2 · 다음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489204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8F8F8"/>
                </a:solidFill>
                <a:latin typeface="Pretendard"/>
              </a:rPr>
              <a:t>AI로 일하는 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539496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D8F95"/>
                </a:solidFill>
                <a:latin typeface="Pretendard"/>
              </a:rPr>
              <a:t>실전 적용 4대 영역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4297680"/>
            <a:ext cx="3337560" cy="1828800"/>
          </a:xfrm>
          <a:prstGeom prst="roundRect">
            <a:avLst>
              <a:gd name="adj" fmla="val 6000"/>
            </a:avLst>
          </a:prstGeom>
          <a:solidFill>
            <a:srgbClr val="12101E"/>
          </a:solidFill>
          <a:ln w="9525">
            <a:solidFill>
              <a:srgbClr val="2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27264" y="4526280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AD9BFF"/>
                </a:solidFill>
                <a:latin typeface="Consolas"/>
              </a:rPr>
              <a:t>LV3 · 활용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27264" y="489204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8F8F8"/>
                </a:solidFill>
                <a:latin typeface="Pretendard"/>
              </a:rPr>
              <a:t>Claude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27264" y="539496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D8F95"/>
                </a:solidFill>
                <a:latin typeface="Pretendard"/>
              </a:rPr>
              <a:t>코드 자동화</a:t>
            </a:r>
          </a:p>
        </p:txBody>
      </p:sp>
      <p:pic>
        <p:nvPicPr>
          <p:cNvPr id="24" name="Picture 23" descr="cat_than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731520"/>
            <a:ext cx="1143000" cy="1828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D8F95"/>
                </a:solidFill>
                <a:latin typeface="Consolas"/>
              </a:rPr>
              <a:t>11 / 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D1D9"/>
                </a:solidFill>
                <a:latin typeface="Consolas"/>
              </a:rPr>
              <a:t>WRAP · 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